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3" r:id="rId10"/>
    <p:sldMasterId id="2147483664" r:id="rId11"/>
    <p:sldMasterId id="2147483665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CABD54-B485-46F9-9CC7-73D3E80992B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C42F67-7206-4ADC-91BC-447DC43AFC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9832CE7-99C2-4AD5-99D6-8EF8DB7EC66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34CB962-2E32-4979-8787-8F278EF84D3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JP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62C0DAD-A79B-4EA2-A141-F0534345D8F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JP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A04873F9-2A06-46C7-8CDD-966159E061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JP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75775CF4-FBD9-4E42-8F41-8F423D2A1D2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F3440C7-677A-4C40-8B1C-3BE93B6F3842}" type="slidenum">
              <a: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97EE696-9423-40ED-91E0-915731592564}" type="slidenum">
              <a: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 lang="en-JP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JP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JP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JP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JP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JP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JP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JP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JP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JP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JP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JP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JP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5ABB154-729E-4987-AB74-405AD216823A}" type="slidenum">
              <a: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EAB2C7D-3D6E-417E-8108-391AF4D4F9C6}" type="slidenum">
              <a: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JP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JP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JP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JP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JP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JP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JP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JP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JP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JP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JP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JP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JP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JP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JP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JP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JP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JP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JP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D4CB76B-D5AB-4765-8303-A08D5E39547F}" type="slidenum">
              <a: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A75ABAA-FAD3-4D62-A98E-3A4D93D5825C}" type="slidenum">
              <a: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20D4D19-67C2-4548-91C8-E791195E9A1F}" type="slidenum">
              <a: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D136E62-03A4-41BF-976A-83E859A3C049}" type="slidenum">
              <a: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423B21F-F6FF-414E-AE26-19C1C59B05C0}" type="slidenum">
              <a: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7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8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802B2D3-6D09-419E-82B3-D9280C4BDF19}" type="slidenum">
              <a: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33EF1D8-BA3D-4E7F-A977-028E4972A6DD}" type="slidenum">
              <a:rPr lang="en-JP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https://github.com/K2Debug/Financial-News-Sentiment-Analyzer-for-Economic-Forecasting/tree/refactor/colab-local-runtime-cache" TargetMode="External"/><Relationship Id="rId2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80" y="0"/>
            <a:ext cx="12188160" cy="6857280"/>
          </a:xfrm>
          <a:prstGeom prst="rect">
            <a:avLst/>
          </a:prstGeom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749160" y="2328120"/>
            <a:ext cx="10957320" cy="91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anchorCtr="1">
            <a:normAutofit fontScale="70000" lnSpcReduction="19999"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5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EF-02: Financial News Sentiment Analyser for Economic Forecasting</a:t>
            </a:r>
            <a:endParaRPr lang="en-US" sz="5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ubTitle"/>
          </p:nvPr>
        </p:nvSpPr>
        <p:spPr>
          <a:xfrm>
            <a:off x="129600" y="5619600"/>
            <a:ext cx="4591800" cy="1103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160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Supervisors: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28560" lvl="1" indent="-39996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OpenSymbol"/>
              <a:buAutoNum type="arabicPeriod"/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Dr. Winfrida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28560" lvl="1" indent="-39996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OpenSymbol"/>
              <a:buAutoNum type="arabicPeriod"/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Mr. Benitho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ubtitle 2"/>
          <p:cNvSpPr/>
          <p:nvPr/>
        </p:nvSpPr>
        <p:spPr>
          <a:xfrm>
            <a:off x="3429000" y="3619080"/>
            <a:ext cx="6400440" cy="131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Group Members: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5144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OpenSymbol"/>
              <a:buAutoNum type="arabicPeriod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Kitula, Kitula-Masaganya Abdul (35552/T.2025)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5144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OpenSymbol"/>
              <a:buAutoNum type="arabicPeriod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leka, Revocatus Orest (37058/T.2025)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5144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OpenSymbol"/>
              <a:buAutoNum type="arabicPeriod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Lyellu, Sabrina Rashid (37463/T.2025)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5144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OpenSymbol"/>
              <a:buAutoNum type="arabicPeriod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Ibrahim, Ghadhal Nkrumah (37254/T.2025)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Picture 4"/>
          <p:cNvPicPr/>
          <p:nvPr/>
        </p:nvPicPr>
        <p:blipFill>
          <a:blip r:embed="rId1"/>
          <a:srcRect l="26468" t="28214" r="24446" b="25461"/>
          <a:stretch/>
        </p:blipFill>
        <p:spPr>
          <a:xfrm>
            <a:off x="5070960" y="166320"/>
            <a:ext cx="2049480" cy="184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extBox 5"/>
          <p:cNvSpPr/>
          <p:nvPr/>
        </p:nvSpPr>
        <p:spPr>
          <a:xfrm>
            <a:off x="9649440" y="5724360"/>
            <a:ext cx="20570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July 2, 2026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Microsoft YaHei"/>
              </a:rPr>
              <a:t>Methodology (Agile methodology</a:t>
            </a: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graphicFrame>
        <p:nvGraphicFramePr>
          <p:cNvPr id="81" name="Table 5"/>
          <p:cNvGraphicFramePr/>
          <p:nvPr/>
        </p:nvGraphicFramePr>
        <p:xfrm>
          <a:off x="362160" y="1447200"/>
          <a:ext cx="11549160" cy="4816080"/>
        </p:xfrm>
        <a:graphic>
          <a:graphicData uri="http://schemas.openxmlformats.org/drawingml/2006/table">
            <a:tbl>
              <a:tblPr/>
              <a:tblGrid>
                <a:gridCol w="451440"/>
                <a:gridCol w="2400120"/>
                <a:gridCol w="2672640"/>
                <a:gridCol w="4079520"/>
                <a:gridCol w="1945800"/>
              </a:tblGrid>
              <a:tr h="0">
                <a:tc>
                  <a:txBody>
                    <a:bodyPr anchor="t">
                      <a:noAutofit/>
                    </a:bodyPr>
                    <a:p>
                      <a:endParaRPr lang="en-JP" sz="2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BCBCBC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BCBCBC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JP" sz="2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Specific Objective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BCBCBC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JP" sz="2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Methodology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BCBCBC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Tools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BCBCBC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JP" sz="2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Deliverable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BCBCBC"/>
                      </a:solidFill>
                      <a:prstDash val="solid"/>
                    </a:lnR>
                    <a:lnT w="12240">
                      <a:solidFill>
                        <a:srgbClr val="BCBCBC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JP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1.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BCBCBC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JP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To scrape Tanzanian financial news headlines from online sources 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JP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 Automated web scraping  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JP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Python, Requests, BeautifulSoup, CSV 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JP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Raw headline datasets per source 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BCBCBC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JP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2.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BCBCBC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JP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To benchmark and select the most suitable NLP model 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JP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Multi-model comparative evaluation (Uisng labelled dataset)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JP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Microsoft YaHei"/>
                        </a:rPr>
                        <a:t>Python,TextBlob,VADER, finBERT, Llama 3.3 70B,  GPT 4.0 mini, Groq and OpenAi SDK, scikit-learn, Pandas,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JP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Benchmarking results CSV and selected model 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BCBCBC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JP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3.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BCBCBC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JP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To classify headlines by relevance, category, and sentiment 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JP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Prompt-based LLM classification  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JP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Python, Groq API, Llama 3.3 70B, Pandas 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JP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Labelled headlines dataset 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BCBCBC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JP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4.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BCBCBC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JP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To consolidate classified headlines with macroeconomic indicators 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JP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Dataset consolidation and monthlu aggregation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JP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Python, Pandas 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JP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Merged visualisation dataset 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BCBCBC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JP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5.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BCBCBC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BCBC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JP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To analyse correlation between news sentiment and economic indicators 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BCBC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JP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Pearson correlation analysis 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BCBC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JP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Python, Matplotlib, Seaborn, SciPy 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BCBC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JP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Correlation charts and findings 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BCBCBC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BCBCB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USERS OF THE SYSTEM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Policymakers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and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economists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monitoring currency pressure and inflation mood from local media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Investors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tracking sector trends (banking, trade, agriculture, forex) before official statistics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Researchers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studying African financial NLP and sentiment relationships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Data scientists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extend or adapt the pipeline for other NLP or macroeconomic correlation tasks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System Functionalities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838080" y="1371600"/>
            <a:ext cx="101343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Data collection: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scraping, pagination of headlines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Data cleaning: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merging, removing duplicates, date normalisation of scraped headlines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Model benchmarking: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multi-model evaluation and accuracy comparison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Classification: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relevance filtering, category tagging, sentiment labelling on scrapped headlines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Data consolidation: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merging headlines with CPI and FX data at monthly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Visualisation and analysis: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charts, correlation matrix, Pearson r and p-value outputs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"/>
          <p:cNvPicPr/>
          <p:nvPr/>
        </p:nvPicPr>
        <p:blipFill>
          <a:blip r:embed="rId1"/>
          <a:stretch/>
        </p:blipFill>
        <p:spPr>
          <a:xfrm>
            <a:off x="4105080" y="1143000"/>
            <a:ext cx="4353120" cy="365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"/>
          <p:cNvPicPr/>
          <p:nvPr/>
        </p:nvPicPr>
        <p:blipFill>
          <a:blip r:embed="rId2"/>
          <a:stretch/>
        </p:blipFill>
        <p:spPr>
          <a:xfrm>
            <a:off x="2057400" y="254520"/>
            <a:ext cx="7315200" cy="6146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System Demonstration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GitHub repository: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hlinkClick r:id="rId1"/>
              </a:rPr>
              <a:t>K2Debug/Financial-News-Sentiment-Analyzer-for-Economic-Forecasting at refactor/colab-local-runtime-cache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Clone Repository 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!git clone https://github.com/K2Debug/Financial-News-Sentiment-Analyzer-for-Economic-Forecasting.git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0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80" y="0"/>
            <a:ext cx="12188160" cy="6857280"/>
          </a:xfrm>
          <a:prstGeom prst="rect">
            <a:avLst/>
          </a:prstGeom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523880" y="15202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JP" sz="8000" b="0" u="none" strike="noStrike">
                <a:solidFill>
                  <a:schemeClr val="dk1"/>
                </a:solidFill>
                <a:effectLst/>
                <a:uFillTx/>
                <a:latin typeface="PT Serif"/>
              </a:rPr>
              <a:t>THANK YOU</a:t>
            </a:r>
            <a:endParaRPr lang="en-U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335</TotalTime>
  <Application>LibreOffice/26.2.4.2$Windows_X86_64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2024-03-27T08:00:01Z</dcterms:created>
  <dc:creator>Eunice_David Likotiko</dc:creator>
  <dc:description/>
  <dc:language>en-US</dc:language>
  <cp:lastModifiedBy/>
  <dcterms:modified xsi:type="dcterms:W3CDTF">2026-07-03T10:10:53Z</dcterms:modified>
  <cp:revision>9</cp:revision>
  <dc:subject/>
  <dc:title>Dissertaion Progress Report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r8>6</vt:r8>
  </property>
</Properties>
</file>